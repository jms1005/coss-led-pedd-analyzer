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27248"/>
            <a:ext cx="12191695" cy="54864"/>
          </a:xfrm>
          <a:prstGeom prst="rect">
            <a:avLst/>
          </a:prstGeom>
          <a:solidFill>
            <a:srgbClr val="F15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0020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LED 다파장 재이용 광검출 기반</a:t>
            </a:r>
          </a:p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저비용 액체 광학 분석기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4290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15C22"/>
                </a:solidFill>
                <a:latin typeface="맑은 고딕"/>
                <a:ea typeface="맑은 고딕"/>
                <a:cs typeface="맑은 고딕"/>
              </a:rPr>
              <a:t>포토다이오드 없이, LED만으로 액체를 판별한다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66344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2026 COSS 차세대반도체 MCU 응용 경진대회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팀명: (기입)   |   팀원: (4인 성명 기입)   |   소속: (기입)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MCU: ATmega328P   |   개발환경: Microchip Studio (레지스터 직접 제어)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F15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문제 제기 — 왜 LED로 검출하는가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3774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F15C22"/>
                </a:solidFill>
                <a:latin typeface="맑은 고딕"/>
                <a:ea typeface="맑은 고딕"/>
                <a:cs typeface="맑은 고딕"/>
              </a:rPr>
              <a:t>1.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1">
                <a:solidFill>
                  <a:srgbClr val="1D4ED8"/>
                </a:solidFill>
                <a:latin typeface="맑은 고딕"/>
                <a:ea typeface="맑은 고딕"/>
                <a:cs typeface="맑은 고딕"/>
              </a:rPr>
              <a:t>기존 액체 광학 분석의 구성</a:t>
            </a:r>
          </a:p>
          <a:p>
            <a:pPr algn="l" lvl="1">
              <a:spcAft>
                <a:spcPts val="5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포토다이오드 + TIA(트랜스임피던스 증폭) + 정밀 OP-AMP + ADC</a:t>
            </a:r>
          </a:p>
          <a:p>
            <a:pPr algn="l" lvl="1">
              <a:spcAft>
                <a:spcPts val="5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부품 수가 늘고, 아날로그 프론트엔드 설계 난이도가 높다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1D4ED8"/>
                </a:solidFill>
                <a:latin typeface="맑은 고딕"/>
                <a:ea typeface="맑은 고딕"/>
                <a:cs typeface="맑은 고딕"/>
              </a:rPr>
              <a:t>LED는 이미 광검출 소자다</a:t>
            </a:r>
          </a:p>
          <a:p>
            <a:pPr algn="l" lvl="1">
              <a:spcAft>
                <a:spcPts val="5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LED는 p-n 접합 소자다. 역방향 바이어스 상태에서는 포토다이오드와</a:t>
            </a:r>
          </a:p>
          <a:p>
            <a:pPr algn="l" lvl="1">
              <a:spcAft>
                <a:spcPts val="5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동일한 원리로 입사광에 비례하는 광전류를 만든다</a:t>
            </a:r>
          </a:p>
          <a:p>
            <a:pPr algn="l" lvl="1">
              <a:spcAft>
                <a:spcPts val="500"/>
              </a:spcAft>
            </a:pPr>
            <a:r>
              <a:rPr sz="1500" b="1">
                <a:solidFill>
                  <a:srgbClr val="1D4ED8"/>
                </a:solidFill>
                <a:latin typeface="맑은 고딕"/>
                <a:ea typeface="맑은 고딕"/>
                <a:cs typeface="맑은 고딕"/>
              </a:rPr>
              <a:t>→ 전용 검출 소자 없이 LED 자체로 검출이 가능하다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1D4ED8"/>
                </a:solidFill>
                <a:latin typeface="맑은 고딕"/>
                <a:ea typeface="맑은 고딕"/>
                <a:cs typeface="맑은 고딕"/>
              </a:rPr>
              <a:t>본 설계의 선택</a:t>
            </a:r>
          </a:p>
          <a:p>
            <a:pPr algn="l" lvl="1">
              <a:spcAft>
                <a:spcPts val="5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아날로그 증폭·ADC를 쓰지 않고, 방전 시간이라는 시간 영역 값으로 변환한다</a:t>
            </a:r>
          </a:p>
          <a:p>
            <a:pPr algn="l" lvl="1">
              <a:spcAft>
                <a:spcPts val="5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MCU의 디지털 핀과 내장 주변장치만으로 측정이 완결된다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074920"/>
            <a:ext cx="10881360" cy="1188720"/>
          </a:xfrm>
          <a:prstGeom prst="rect">
            <a:avLst/>
          </a:prstGeom>
          <a:solidFill>
            <a:srgbClr val="FFFBEB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5193792"/>
            <a:ext cx="1047902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>계획서 1.1절. 경진대회 평가 항목 중 경제성과 직결되는 선택이다.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F15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한 장 요약 — 최종 데모 시나리오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3774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F15C22"/>
                </a:solidFill>
                <a:latin typeface="맑은 고딕"/>
                <a:ea typeface="맑은 고딕"/>
                <a:cs typeface="맑은 고딕"/>
              </a:rPr>
              <a:t>1.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8813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① 시료가 담긴 큐벳을 차광 챔버에 삽입한다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② 측정 시작 버튼을 누른다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③ MCU가 Red → Green → Blue 순으로 발광 LED를 점등한다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④ 각 파장에 대해 검출 LED의 충전–방전 시간을 Timer1으로 측정한다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⑤ 3채널 측정값으로 광학 지문 벡터 [R, G, B]를 구성한다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⑥ MCU 내부에서 암전류 보정·정규화 후 최근접 중심점 분류를 실행한다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1D4ED8"/>
                </a:solidFill>
                <a:latin typeface="맑은 고딕"/>
                <a:ea typeface="맑은 고딕"/>
                <a:cs typeface="맑은 고딕"/>
              </a:rPr>
              <a:t>⑦ 판정 결과를 OLED에 표시한다 (UART로 동시 로깅)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029200"/>
            <a:ext cx="10881360" cy="1188720"/>
          </a:xfrm>
          <a:prstGeom prst="rect">
            <a:avLst/>
          </a:prstGeom>
          <a:solidFill>
            <a:srgbClr val="FFFBEB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5148072"/>
            <a:ext cx="1047902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>★ 완성 사진 또는 시연 영상 썸네일을 이 자리에 넣을 것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>심사위원이 가장 먼저 보는 장이다. '무엇을 만들었는가'가 즉시 전달되어야 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F15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PEDD 동작 원리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3774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F15C22"/>
                </a:solidFill>
                <a:latin typeface="맑은 고딕"/>
                <a:ea typeface="맑은 고딕"/>
                <a:cs typeface="맑은 고딕"/>
              </a:rPr>
              <a:t>2. 기능·원리·구조 〔4-가-1〕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>
                <a:solidFill>
                  <a:srgbClr val="1D4ED8"/>
                </a:solidFill>
                <a:latin typeface="맑은 고딕"/>
                <a:ea typeface="맑은 고딕"/>
                <a:cs typeface="맑은 고딕"/>
              </a:rPr>
              <a:t>1단계 — 충전</a:t>
            </a:r>
          </a:p>
          <a:p>
            <a:pPr algn="l" lvl="1"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검출 LED의 캐소드를 HIGH로 구동해 역방향 바이어스를 건다.</a:t>
            </a:r>
          </a:p>
          <a:p>
            <a:pPr algn="l" lvl="1"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접합 정전용량(수십 pF)이 전원 전압까지 충전된다.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1D4ED8"/>
                </a:solidFill>
                <a:latin typeface="맑은 고딕"/>
                <a:ea typeface="맑은 고딕"/>
                <a:cs typeface="맑은 고딕"/>
              </a:rPr>
              <a:t>2단계 — 방전</a:t>
            </a:r>
          </a:p>
          <a:p>
            <a:pPr algn="l" lvl="1"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핀을 입력(Hi-Z)으로 전환하면 광전류만이 방전 경로가 된다.</a:t>
            </a:r>
          </a:p>
          <a:p>
            <a:pPr algn="l" lvl="1"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빛이 셀수록 광전류가 크고 전압이 빨리 떨어진다.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1D4ED8"/>
                </a:solidFill>
                <a:latin typeface="맑은 고딕"/>
                <a:ea typeface="맑은 고딕"/>
                <a:cs typeface="맑은 고딕"/>
              </a:rPr>
              <a:t>3단계 — 시간 측정</a:t>
            </a:r>
          </a:p>
          <a:p>
            <a:pPr algn="l" lvl="1"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전압이 내부 1.1V 밴드갭 기준을 지나는 순간을 Analog Comparator가 잡고,</a:t>
            </a:r>
          </a:p>
          <a:p>
            <a:pPr algn="l" lvl="1"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그 사건이 Timer1 Input Capture로 하드웨어에서 직접 기록된다.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1D4ED8"/>
                </a:solidFill>
                <a:latin typeface="맑은 고딕"/>
                <a:ea typeface="맑은 고딕"/>
                <a:cs typeface="맑은 고딕"/>
              </a:rPr>
              <a:t>방전 시간 ∝ 1 / 광량   →  시간이라는 디지털 값으로 광량을 얻는다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074920"/>
            <a:ext cx="10881360" cy="1188720"/>
          </a:xfrm>
          <a:prstGeom prst="rect">
            <a:avLst/>
          </a:prstGeom>
          <a:solidFill>
            <a:srgbClr val="FFFBEB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5193792"/>
            <a:ext cx="1047902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>계획서 3.2절 / 3.6절. 논리 문턱값 대신 밴드갭 기준을 쓰는 이유는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>논리 문턱값이 전원 전압과 온도에 따라 흔들려 측정 재현성을 해치기 때문이다.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F15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시스템 블록도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3774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F15C22"/>
                </a:solidFill>
                <a:latin typeface="맑은 고딕"/>
                <a:ea typeface="맑은 고딕"/>
                <a:cs typeface="맑은 고딕"/>
              </a:rPr>
              <a:t>2. 기능·원리·구조 〔4-가-1〕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pic>
        <p:nvPicPr>
          <p:cNvPr id="7" name="Picture 6" descr="fig1_block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188720"/>
            <a:ext cx="8778240" cy="465784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" y="5989320"/>
            <a:ext cx="10881360" cy="731520"/>
          </a:xfrm>
          <a:prstGeom prst="rect">
            <a:avLst/>
          </a:prstGeom>
          <a:solidFill>
            <a:srgbClr val="FFFBEB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6108192"/>
            <a:ext cx="1047902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>핵심: 신호 처리부(Analog Comparator + Timer1 Input Capture)가 MCU 내부에 있다.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>외부 아날로그 회로가 존재하지 않는다.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F15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다파장 광학 지문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3774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F15C22"/>
                </a:solidFill>
                <a:latin typeface="맑은 고딕"/>
                <a:ea typeface="맑은 고딕"/>
                <a:cs typeface="맑은 고딕"/>
              </a:rPr>
              <a:t>2. 기능·원리·구조 〔4-가-1〕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1">
                <a:solidFill>
                  <a:srgbClr val="1D4ED8"/>
                </a:solidFill>
                <a:latin typeface="맑은 고딕"/>
                <a:ea typeface="맑은 고딕"/>
                <a:cs typeface="맑은 고딕"/>
              </a:rPr>
              <a:t>단일 파장의 한계</a:t>
            </a:r>
          </a:p>
          <a:p>
            <a:pPr algn="l" lvl="1">
              <a:spcAft>
                <a:spcPts val="5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투과율 하나로는 '어둡다'는 사실만 알 뿐, 착색인지 탁도인지 구분하지 못한다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1D4ED8"/>
                </a:solidFill>
                <a:latin typeface="맑은 고딕"/>
                <a:ea typeface="맑은 고딕"/>
                <a:cs typeface="맑은 고딕"/>
              </a:rPr>
              <a:t>3채널 벡터</a:t>
            </a:r>
          </a:p>
          <a:p>
            <a:pPr algn="l" lvl="1">
              <a:spcAft>
                <a:spcPts val="5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R·G·B 각각의 방전 시간을 재어 [R, G, B] 벡터를 만든다</a:t>
            </a:r>
          </a:p>
          <a:p>
            <a:pPr algn="l" lvl="1">
              <a:spcAft>
                <a:spcPts val="5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암전류 보정 후 합이 1000이 되도록 정규화 → 광량·거리 변동이 상쇄된다</a:t>
            </a:r>
          </a:p>
          <a:p>
            <a:pPr algn="l" lvl="1">
              <a:spcAft>
                <a:spcPts val="500"/>
              </a:spcAft>
            </a:pPr>
            <a:r>
              <a:rPr sz="1500" b="1">
                <a:solidFill>
                  <a:srgbClr val="1D4ED8"/>
                </a:solidFill>
                <a:latin typeface="맑은 고딕"/>
                <a:ea typeface="맑은 고딕"/>
                <a:cs typeface="맑은 고딕"/>
              </a:rPr>
              <a:t>남는 것은 시료의 파장별 상대 응답, 즉 광학 지문이다</a:t>
            </a:r>
          </a:p>
          <a:p>
            <a:pPr algn="l">
              <a:spcAft>
                <a:spcPts val="900"/>
              </a:spcAft>
            </a:pPr>
            <a:r>
              <a:rPr sz="1700" b="1">
                <a:solidFill>
                  <a:srgbClr val="1D4ED8"/>
                </a:solidFill>
                <a:latin typeface="맑은 고딕"/>
                <a:ea typeface="맑은 고딕"/>
                <a:cs typeface="맑은 고딕"/>
              </a:rPr>
              <a:t>선행 연구와의 차이</a:t>
            </a:r>
          </a:p>
          <a:p>
            <a:pPr algn="l" lvl="1">
              <a:spcAft>
                <a:spcPts val="5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기존 PEDD 연구는 대부분 1~2 파장, 단일 분석물 정량에 그쳤다 (계획서 2.2절)</a:t>
            </a:r>
          </a:p>
          <a:p>
            <a:pPr algn="l" lvl="1">
              <a:spcAft>
                <a:spcPts val="5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본 설계는 다파장 벡터로 시료 '종류'를 분류한다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F15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프로그램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3774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F15C22"/>
                </a:solidFill>
                <a:latin typeface="맑은 고딕"/>
                <a:ea typeface="맑은 고딕"/>
                <a:cs typeface="맑은 고딕"/>
              </a:rPr>
              <a:t>3. 구현 전략 〔4-가-2〕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pic>
        <p:nvPicPr>
          <p:cNvPr id="7" name="Picture 6" descr="fig2_program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143000"/>
            <a:ext cx="4008922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F15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MCU 선정 근거 — ATmega328P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3774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F15C22"/>
                </a:solidFill>
                <a:latin typeface="맑은 고딕"/>
                <a:ea typeface="맑은 고딕"/>
                <a:cs typeface="맑은 고딕"/>
              </a:rPr>
              <a:t>3. 구현 전략 〔4-가-2〕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71600"/>
          <a:ext cx="1088136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971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선정 기준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 사항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ATmega328P 사양 및 적합성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3971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타이머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μs 분해능 시간 측정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D4ED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Timer1 16비트, /8에서 500ns 분해능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71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비교기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임계 통과 시점 포착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D4ED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Analog Comparator 내장 + 1.1V 밴드갭 기준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971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캡처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지연 없는 시각 기록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D4ED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Input Capture가 비교기 출력에 직결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71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GPIO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광학부 4 + 버튼 1 + I2C 2 + UART 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23개 I/O — 여유 있으나 과잉 아님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971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개발환경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레지스터 직접 제어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Microchip Studio + avr-gcc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711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저비용 구성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IC 단품 약 5,000원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85800" y="5257800"/>
            <a:ext cx="10881360" cy="1005840"/>
          </a:xfrm>
          <a:prstGeom prst="rect">
            <a:avLst/>
          </a:prstGeom>
          <a:solidFill>
            <a:srgbClr val="FFFBEB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5376672"/>
            <a:ext cx="1047902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>STM32를 쓰지 않은 이유: 본 설계는 ADC를 쓰지 않으므로 고성능 ADC의 이점이 없고,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>필요한 것은 '비교기 출력을 타이머가 직접 캡처하는 경로'인데 이 조합이 328P에 그대로 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F15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부품 선정 근거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3774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F15C22"/>
                </a:solidFill>
                <a:latin typeface="맑은 고딕"/>
                <a:ea typeface="맑은 고딕"/>
                <a:cs typeface="맑은 고딕"/>
              </a:rPr>
              <a:t>3. 구현 전략 〔4-가-2〕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>
                <a:solidFill>
                  <a:srgbClr val="1D4ED8"/>
                </a:solidFill>
                <a:latin typeface="맑은 고딕"/>
                <a:ea typeface="맑은 고딕"/>
                <a:cs typeface="맑은 고딕"/>
              </a:rPr>
              <a:t>발광 LED를 개별 소자 3개로 구성한 이유</a:t>
            </a:r>
          </a:p>
          <a:p>
            <a:pPr algn="l" lvl="1"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RGB 일체형은 공통 애노드/캐소드 구조라 개별 역바이어스 제어에 제약이 생긴다</a:t>
            </a:r>
          </a:p>
          <a:p>
            <a:pPr algn="l" lvl="1"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개별 소자는 파장별 광량을 저항으로 독립 조정할 수 있다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1D4ED8"/>
                </a:solidFill>
                <a:latin typeface="맑은 고딕"/>
                <a:ea typeface="맑은 고딕"/>
                <a:cs typeface="맑은 고딕"/>
              </a:rPr>
              <a:t>검출 LED를 '투명 렌즈 + 적색'으로 지정한 이유</a:t>
            </a:r>
          </a:p>
          <a:p>
            <a:pPr algn="l" lvl="1"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LED는 자기 발광 파장 이하의 빛만 흡수한다 (밴드갭 이상의 광자만 흡수)</a:t>
            </a:r>
          </a:p>
          <a:p>
            <a:pPr algn="l" lvl="1">
              <a:spcAft>
                <a:spcPts val="500"/>
              </a:spcAft>
            </a:pPr>
            <a:r>
              <a:rPr sz="1400" b="1">
                <a:solidFill>
                  <a:srgbClr val="1D4ED8"/>
                </a:solidFill>
                <a:latin typeface="맑은 고딕"/>
                <a:ea typeface="맑은 고딕"/>
                <a:cs typeface="맑은 고딕"/>
              </a:rPr>
              <a:t>→ 적색 검출 소자는 R·G·B를 모두 받지만, 청색 소자는 Red를 받지 못한다</a:t>
            </a:r>
          </a:p>
          <a:p>
            <a:pPr algn="l" lvl="1"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착색 렌즈는 자체가 광학 필터로 작용해 측정을 왜곡한다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1D4ED8"/>
                </a:solidFill>
                <a:latin typeface="맑은 고딕"/>
                <a:ea typeface="맑은 고딕"/>
                <a:cs typeface="맑은 고딕"/>
              </a:rPr>
              <a:t>전류 제한 저항을 4종(220/330/470/1k) 확보한 이유</a:t>
            </a:r>
          </a:p>
          <a:p>
            <a:pPr algn="l" lvl="1"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광량은 Phase 1에서 반드시 조정하게 되는 변수다. 한 종류만으로는 대응이 막힌다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F15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단계별 실험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3774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F15C22"/>
                </a:solidFill>
                <a:latin typeface="맑은 고딕"/>
                <a:ea typeface="맑은 고딕"/>
                <a:cs typeface="맑은 고딕"/>
              </a:rPr>
              <a:t>3. 구현 전략 〔4-가-2〕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63040"/>
          <a:ext cx="10881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4389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성공 기준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Phase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단일 채널 개념 증명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반복 측정 CV ≤ 10%, 시료 2종 이상 구분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 진행 예정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Phase 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RGB 다파장 확장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채널 추가 시 시료군 분리도 개선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 진행 예정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Phase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보정 파이프라인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암전류 보정·정규화의 유효성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 진행 예정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Phase 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온칩 분류·시스템 통합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PC 없이 버튼→판정→표시 전 과정 동작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D4ED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펌웨어 구현 완료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85800" y="4023360"/>
            <a:ext cx="10881360" cy="914400"/>
          </a:xfrm>
          <a:prstGeom prst="rect">
            <a:avLst/>
          </a:prstGeom>
          <a:solidFill>
            <a:srgbClr val="FFFBEB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4142232"/>
            <a:ext cx="1047902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>예선 시점 기준 진행 상황을 정직하게 기재할 것.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>요강 1-나: '동작하는 결과 못지않게 중요한 것이 문제 해결 과정'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F15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Phase 1 결과 — 단일 채널 재현성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3774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F15C22"/>
                </a:solidFill>
                <a:latin typeface="맑은 고딕"/>
                <a:ea typeface="맑은 고딕"/>
                <a:cs typeface="맑은 고딕"/>
              </a:rPr>
              <a:t>4. 설계·실험 과정 〔4-가-3〕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10881360" cy="4023360"/>
          </a:xfrm>
          <a:prstGeom prst="rect">
            <a:avLst/>
          </a:prstGeom>
          <a:solidFill>
            <a:srgbClr val="FEF2F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36192"/>
            <a:ext cx="10479024" cy="3785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★ 실험 후 채울 것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· 시료별(증류수 / 착색수 / 희석우유) 방전 시간 분포 그래프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· 반복 측정 변동계수(CV) 표 — 계획서 4.1.4절 통과 기준 10% 이내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· tools/analyze.py 출력 화면 캡처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실행:  python tools/analyze.py data/distilled.csv data/dye.csv data/milk.csv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       (스크립트는 합성 데이터로 동작 검증 완료)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F15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Phase 2 결과 — 다파장 분리도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3774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F15C22"/>
                </a:solidFill>
                <a:latin typeface="맑은 고딕"/>
                <a:ea typeface="맑은 고딕"/>
                <a:cs typeface="맑은 고딕"/>
              </a:rPr>
              <a:t>4. 설계·실험 과정 〔4-가-3〕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10881360" cy="4023360"/>
          </a:xfrm>
          <a:prstGeom prst="rect">
            <a:avLst/>
          </a:prstGeom>
          <a:solidFill>
            <a:srgbClr val="FEF2F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36192"/>
            <a:ext cx="10479024" cy="3785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★ 실험 후 채울 것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· R·G·B 채널별 측정값과 정규화 지문 벡터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· 채널 구성(R → RG → RGB)에 따른 시료군 분리도 개선 그래프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· 계획서 4.2.4절 성공 기준: 채널을 늘렸을 때 가장 가까운 시료 쌍의 거리가 멀어지는가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analyze.py 3번 항목이 이 값을 자동 계산한다.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F15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시행착오와 해결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3774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F15C22"/>
                </a:solidFill>
                <a:latin typeface="맑은 고딕"/>
                <a:ea typeface="맑은 고딕"/>
                <a:cs typeface="맑은 고딕"/>
              </a:rPr>
              <a:t>4. 설계·실험 과정 〔4-가-3〕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71600"/>
          <a:ext cx="1088136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971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문제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해결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3971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로딩 실패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componentinfo.xml 누락으로 디바이스 팩 경로가 비었음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D4ED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 추가 후 정상 로딩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71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SRAM 23.6% 점유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AVR이 문자열 리터럴을 부팅 시 SRAM으로 복사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D4ED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PROGMEM 이전 — 4.4%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971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정규화 값 붕괴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합이 작을 때 정수 나눗셈이 잘려 지문이 깨짐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D4ED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곱셈 전 우측 시프트로 변경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71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 파일 헤더 혼입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측정마다 CSV 헤더를 재출력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D4ED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부팅 시 1회만 출력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9711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회로도에 PB5가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펌웨어가 쓰는 타이밍 출력 핀이 도면에 빠짐. 핀 수가 채점 항목이다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D4ED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펌웨어를 단일 출처로 삼아 TP1 추가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711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큐벳 용량 스펙 모순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10×10×45mm 면 4.5mL 인데 스펙은 1.6mL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D4ED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세미마이크로로 판단 — 광축 방향 통일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85800" y="4370832"/>
            <a:ext cx="10881360" cy="1051560"/>
          </a:xfrm>
          <a:prstGeom prst="rect">
            <a:avLst/>
          </a:prstGeom>
          <a:solidFill>
            <a:srgbClr val="FFFBEB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4489704"/>
            <a:ext cx="10479024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>재발 방지: 도면 생성기에 check_geometry() 를 넣어 치수 모순을 매번 자체 점검한다.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>간격을 잘못된 값으로 되돌리면 생성이 실패하는 것까지 확인했다.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>★ 실험 중 발생한 하드웨어 문제를 여기에 추가할 것 (계획서 4.5절 실패 대응표)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F15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예외 상황 대비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3774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F15C22"/>
                </a:solidFill>
                <a:latin typeface="맑은 고딕"/>
                <a:ea typeface="맑은 고딕"/>
                <a:cs typeface="맑은 고딕"/>
              </a:rPr>
              <a:t>4. 설계·실험 과정 〔4-가-3〕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>
                <a:solidFill>
                  <a:srgbClr val="1D4ED8"/>
                </a:solidFill>
                <a:latin typeface="맑은 고딕"/>
                <a:ea typeface="맑은 고딕"/>
                <a:cs typeface="맑은 고딕"/>
              </a:rPr>
              <a:t>① 16비트 타이머의 32.8ms 한계 → Overflow Counter</a:t>
            </a:r>
          </a:p>
          <a:p>
            <a:pPr algn="l" lvl="1"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Timer1은 65,536틱에서 넘친다. 오버플로우 인터럽트로 횟수를 세어</a:t>
            </a:r>
          </a:p>
          <a:p>
            <a:pPr algn="l" lvl="1"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32비트로 확장했다. 측정 상한 61회 오버플로우 ≈ 2.0초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1D4ED8"/>
                </a:solidFill>
                <a:latin typeface="맑은 고딕"/>
                <a:ea typeface="맑은 고딕"/>
                <a:cs typeface="맑은 고딕"/>
              </a:rPr>
              <a:t>② 빛이 오지 않는 경우 → TIMEOUT 반환</a:t>
            </a:r>
          </a:p>
          <a:p>
            <a:pPr algn="l" lvl="1"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상한을 넘으면 측정을 중단하고 상태를 TIMEOUT으로 돌려준다</a:t>
            </a:r>
          </a:p>
          <a:p>
            <a:pPr algn="l" lvl="1"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화면에 어느 채널이 실패했는지 표시한다 (TIMEOUT: R)</a:t>
            </a:r>
          </a:p>
          <a:p>
            <a:pPr algn="l" lvl="1">
              <a:spcAft>
                <a:spcPts val="500"/>
              </a:spcAft>
            </a:pPr>
            <a:r>
              <a:rPr sz="1300" b="1">
                <a:solidFill>
                  <a:srgbClr val="1D4ED8"/>
                </a:solidFill>
                <a:latin typeface="맑은 고딕"/>
                <a:ea typeface="맑은 고딕"/>
                <a:cs typeface="맑은 고딕"/>
              </a:rPr>
              <a:t>→ 채널별로 원인이 갈린다. 특정 채널만 실패하면 검출 LED 색상 문제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1D4ED8"/>
                </a:solidFill>
                <a:latin typeface="맑은 고딕"/>
                <a:ea typeface="맑은 고딕"/>
                <a:cs typeface="맑은 고딕"/>
              </a:rPr>
              <a:t>③ 학습 데이터가 없는 상태 → NOT TRAINED 안내</a:t>
            </a:r>
          </a:p>
          <a:p>
            <a:pPr algn="l" lvl="1"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EEPROM의 매직·버전·체크섬을 모두 검사한다. 공장 출하 상태(0xFF)는 자연히 걸러진다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1D4ED8"/>
                </a:solidFill>
                <a:latin typeface="맑은 고딕"/>
                <a:ea typeface="맑은 고딕"/>
                <a:cs typeface="맑은 고딕"/>
              </a:rPr>
              <a:t>④ OLED 미응답 → UART 로깅은 계속</a:t>
            </a:r>
          </a:p>
          <a:p>
            <a:pPr algn="l" lvl="1"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I2C 대기 루프에 상한을 두어, 표시장치 고장이 측정을 멈추지 않게 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F15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회로도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3774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F15C22"/>
                </a:solidFill>
                <a:latin typeface="맑은 고딕"/>
                <a:ea typeface="맑은 고딕"/>
                <a:cs typeface="맑은 고딕"/>
              </a:rPr>
              <a:t>5. 단위별 상세 〔4-가-4〕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pic>
        <p:nvPicPr>
          <p:cNvPr id="7" name="Picture 6" descr="fig3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171103" cy="52120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903720" y="1234440"/>
            <a:ext cx="4846320" cy="3291840"/>
          </a:xfrm>
          <a:prstGeom prst="rect">
            <a:avLst/>
          </a:prstGeom>
          <a:solidFill>
            <a:srgbClr val="FFFBEB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04888" y="1353312"/>
            <a:ext cx="4443983" cy="305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>검출 LED(D4)만 극성이 반대다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>캐소드가 PD7(AIN1)에 연결된다. 반대로 꽂으면 순방향이 되어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>전하가 축적되지 않고 측정이 아예 성립하지 않는다.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>TP1(PB5) — 사이클 시간 측정용 타이밍 출력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>측정 구간에만 HIGH가 된다. 보드 내장 LED와 공유하므로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>부품이 늘지 않는다.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>SW1은 내부 풀업을 써서 외부 저항이 없다.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>OLED 모듈은 SDA/SCL 풀업을 내장한다.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4754880"/>
            <a:ext cx="484632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04888" y="4873752"/>
            <a:ext cx="4443983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원본 도면은 제출물/나_회로도.pdf (A3 가로 1페이지)로 별도 제출한다.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F15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레지스터 직접 제어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3774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F15C22"/>
                </a:solidFill>
                <a:latin typeface="맑은 고딕"/>
                <a:ea typeface="맑은 고딕"/>
                <a:cs typeface="맑은 고딕"/>
              </a:rPr>
              <a:t>5. 단위별 상세 〔4-가-4〕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>
                <a:solidFill>
                  <a:srgbClr val="1D4ED8"/>
                </a:solidFill>
                <a:latin typeface="맑은 고딕"/>
                <a:ea typeface="맑은 고딕"/>
                <a:cs typeface="맑은 고딕"/>
              </a:rPr>
              <a:t>Arduino IDE와 외부 라이브러리를 전혀 사용하지 않았다</a:t>
            </a:r>
          </a:p>
          <a:p>
            <a:pPr algn="l" lvl="1"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개발환경은 Microchip Studio, 모든 주변장치를 레지스터로 직접 다룬다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2148840"/>
          <a:ext cx="108813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788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주변장치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직접 제어한 레지스터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용도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Analog Comparator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ACSR, ADCSRB, DIDR1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밴드갭 기준 선택, 캡처 경로 연결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Timer1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TCCR1A/B, TIMSK1, ICR1, TCNT1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500ns 분해능 입력 캡처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DDRB/D, PORTB/D, PIND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충전·방전 전환, 발광 제어, 버튼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USART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UBRR0, UCSR0B/C, UDR0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38400 8N1 로깅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TWI (I2C)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TWBR, TWCR, TWDR, TWSR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400kHz OLED 통신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EEPROM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EECR, EEDR, EEARH/L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중심점 저장 (라이브러리 미사용)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85800" y="5029200"/>
            <a:ext cx="10881360" cy="1005840"/>
          </a:xfrm>
          <a:prstGeom prst="rect">
            <a:avLst/>
          </a:prstGeom>
          <a:solidFill>
            <a:srgbClr val="FFFBEB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5148072"/>
            <a:ext cx="1047902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>avr-libc 표준 헤더(&lt;avr/io.h&gt; 등)는 컴파일러 제공 헤더이며 요강이 금지한 외부 라이브러리가 아니다.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>EEPROM 접근은 avr-libc 함수 대신 레지스터를 직접 다뤄 요강 취지에 맞췄다.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F15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하드웨어 캡처의 이점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3774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F15C22"/>
                </a:solidFill>
                <a:latin typeface="맑은 고딕"/>
                <a:ea typeface="맑은 고딕"/>
                <a:cs typeface="맑은 고딕"/>
              </a:rPr>
              <a:t>5. 단위별 상세 〔4-가-4〕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>
                <a:solidFill>
                  <a:srgbClr val="1D4ED8"/>
                </a:solidFill>
                <a:latin typeface="맑은 고딕"/>
                <a:ea typeface="맑은 고딕"/>
                <a:cs typeface="맑은 고딕"/>
              </a:rPr>
              <a:t>소프트웨어 폴링 방식</a:t>
            </a:r>
          </a:p>
          <a:p>
            <a:pPr algn="l" lvl="1"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루프에서 핀 상태를 읽어 변화를 감지 → 인터럽트·명령어 지연이 측정값에 섞인다</a:t>
            </a:r>
          </a:p>
          <a:p>
            <a:pPr algn="l" lvl="1"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선행 연구[4]가 보고한 '펌웨어 타이밍 의존성' 문제가 여기서 발생한다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1D4ED8"/>
                </a:solidFill>
                <a:latin typeface="맑은 고딕"/>
                <a:ea typeface="맑은 고딕"/>
                <a:cs typeface="맑은 고딕"/>
              </a:rPr>
              <a:t>본 설계 — 하드웨어 입력 캡처</a:t>
            </a:r>
          </a:p>
          <a:p>
            <a:pPr algn="l" lvl="1"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비교기 출력이 Timer1의 캡처 입력에 직결되어 있다</a:t>
            </a:r>
          </a:p>
          <a:p>
            <a:pPr algn="l" lvl="1"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임계 통과 순간의 타이머 값이 하드웨어에 의해 ICR1로 자동 복사된다</a:t>
            </a:r>
          </a:p>
          <a:p>
            <a:pPr algn="l" lvl="1">
              <a:spcAft>
                <a:spcPts val="500"/>
              </a:spcAft>
            </a:pPr>
            <a:r>
              <a:rPr sz="1400" b="1">
                <a:solidFill>
                  <a:srgbClr val="1D4ED8"/>
                </a:solidFill>
                <a:latin typeface="맑은 고딕"/>
                <a:ea typeface="맑은 고딕"/>
                <a:cs typeface="맑은 고딕"/>
              </a:rPr>
              <a:t>CPU가 인터럽트를 늦게 처리해도 캡처된 시각 자체는 흔들리지 않는다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1D4ED8"/>
                </a:solidFill>
                <a:latin typeface="맑은 고딕"/>
                <a:ea typeface="맑은 고딕"/>
                <a:cs typeface="맑은 고딕"/>
              </a:rPr>
              <a:t>하드웨어와 소프트웨어의 배분</a:t>
            </a:r>
          </a:p>
          <a:p>
            <a:pPr algn="l" lvl="1">
              <a:spcAft>
                <a:spcPts val="500"/>
              </a:spcAft>
            </a:pPr>
            <a:r>
              <a:rPr sz="14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시간에 민감한 부분은 하드웨어(비교기+캡처)에, 판단 로직은 소프트웨어에 두었다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074920"/>
            <a:ext cx="10881360" cy="1188720"/>
          </a:xfrm>
          <a:prstGeom prst="rect">
            <a:avLst/>
          </a:prstGeom>
          <a:solidFill>
            <a:srgbClr val="FFFBEB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5193792"/>
            <a:ext cx="1047902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>요강 3-다 '하드웨어와 소프트웨어의 배분' 대응 항목.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F15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온칩 분류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3774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F15C22"/>
                </a:solidFill>
                <a:latin typeface="맑은 고딕"/>
                <a:ea typeface="맑은 고딕"/>
                <a:cs typeface="맑은 고딕"/>
              </a:rPr>
              <a:t>5. 단위별 상세 〔4-가-4〕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>
                <a:solidFill>
                  <a:srgbClr val="1D4ED8"/>
                </a:solidFill>
                <a:latin typeface="맑은 고딕"/>
                <a:ea typeface="맑은 고딕"/>
                <a:cs typeface="맑은 고딕"/>
              </a:rPr>
              <a:t>전 구간 32비트 정수 연산 — 부동소수점 라이브러리를 링크하지 않는다</a:t>
            </a:r>
          </a:p>
          <a:p>
            <a:pPr algn="l" lvl="1"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float를 쓰면 소프트웨어 부동소수점 루틴이 1.5~3KB 딸려 들어온다</a:t>
            </a:r>
          </a:p>
          <a:p>
            <a:pPr algn="l" lvl="1">
              <a:spcAft>
                <a:spcPts val="500"/>
              </a:spcAft>
            </a:pPr>
            <a:r>
              <a:rPr sz="1300" b="1">
                <a:solidFill>
                  <a:srgbClr val="1D4ED8"/>
                </a:solidFill>
                <a:latin typeface="맑은 고딕"/>
                <a:ea typeface="맑은 고딕"/>
                <a:cs typeface="맑은 고딕"/>
              </a:rPr>
              <a:t>빌드 결과 확인: 부동소수점 심볼 0건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1D4ED8"/>
                </a:solidFill>
                <a:latin typeface="맑은 고딕"/>
                <a:ea typeface="맑은 고딕"/>
                <a:cs typeface="맑은 고딕"/>
              </a:rPr>
              <a:t>파이프라인</a:t>
            </a:r>
          </a:p>
          <a:p>
            <a:pPr algn="l" lvl="1"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① 컨덕턴스 G = K / t  (K = 10⁹, 빛이 셀수록 t가 작고 G가 크다)</a:t>
            </a:r>
          </a:p>
          <a:p>
            <a:pPr algn="l" lvl="1"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② 암전류 보정  I = G − G_dark</a:t>
            </a:r>
          </a:p>
          <a:p>
            <a:pPr algn="l" lvl="1"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③ 정규화  합이 1000이 되도록 — 곱셈 전 우측 시프트로 오버플로우 회피</a:t>
            </a:r>
          </a:p>
          <a:p>
            <a:pPr algn="l" lvl="1"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④ 제곱 유클리드 거리로 최근접 중심점 선택, 임계값 초과 시 UNKNOWN</a:t>
            </a:r>
          </a:p>
          <a:p>
            <a:pPr algn="l" lvl="1">
              <a:spcAft>
                <a:spcPts val="500"/>
              </a:spcAft>
            </a:pPr>
            <a:r>
              <a:rPr sz="1300" b="1">
                <a:solidFill>
                  <a:srgbClr val="1D4ED8"/>
                </a:solidFill>
                <a:latin typeface="맑은 고딕"/>
                <a:ea typeface="맑은 고딕"/>
                <a:cs typeface="맑은 고딕"/>
              </a:rPr>
              <a:t>제곱근을 계산하지 않는다 — 크기 비교만 하면 되므로 제곱거리로 충분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1D4ED8"/>
                </a:solidFill>
                <a:latin typeface="맑은 고딕"/>
                <a:ea typeface="맑은 고딕"/>
                <a:cs typeface="맑은 고딕"/>
              </a:rPr>
              <a:t>EEPROM 26바이트에 중심점 3×3 + 임계값 + 매직·버전·체크섬 저장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F15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해결하지 못한 부분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3774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F15C22"/>
                </a:solidFill>
                <a:latin typeface="맑은 고딕"/>
                <a:ea typeface="맑은 고딕"/>
                <a:cs typeface="맑은 고딕"/>
              </a:rPr>
              <a:t>6. 미해결 〔4-가-5〕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>
                <a:solidFill>
                  <a:srgbClr val="1D4ED8"/>
                </a:solidFill>
                <a:latin typeface="맑은 고딕"/>
                <a:ea typeface="맑은 고딕"/>
                <a:cs typeface="맑은 고딕"/>
              </a:rPr>
              <a:t>실험을 통해서만 확정되는 항목</a:t>
            </a:r>
          </a:p>
          <a:p>
            <a:pPr algn="l" lvl="1"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분류 임계값, 최소 신호 하한, 반복 측정 횟수는 현재 임시값이다.</a:t>
            </a:r>
          </a:p>
          <a:p>
            <a:pPr algn="l" lvl="1"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같은 시료를 반복 측정했을 때의 분산을 봐야 정할 수 있어 상수로 분리해두었다.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1D4ED8"/>
                </a:solidFill>
                <a:latin typeface="맑은 고딕"/>
                <a:ea typeface="맑은 고딕"/>
                <a:cs typeface="맑은 고딕"/>
              </a:rPr>
              <a:t>하드웨어 검증이 남은 부분</a:t>
            </a:r>
          </a:p>
          <a:p>
            <a:pPr algn="l" lvl="1"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I2C·OLED·EEPROM·버튼 드라이버는 컴파일 검증까지만 되어 있다.</a:t>
            </a:r>
          </a:p>
          <a:p>
            <a:pPr algn="l" lvl="1"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분류 로직은 PC 단위 테스트 24개 항목으로 검증했으나, 드라이버는 실물이 필요하다.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1D4ED8"/>
                </a:solidFill>
                <a:latin typeface="맑은 고딕"/>
                <a:ea typeface="맑은 고딕"/>
                <a:cs typeface="맑은 고딕"/>
              </a:rPr>
              <a:t>설계상 남은 한계</a:t>
            </a:r>
          </a:p>
          <a:p>
            <a:pPr algn="l" lvl="1"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검출 LED의 개체차 보정은 같은 로트 소자로 완화했을 뿐 완전히 제거하지 못했다.</a:t>
            </a:r>
          </a:p>
          <a:p>
            <a:pPr algn="l" lvl="1"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온도 드리프트 보정 미구현 — 세션 시작·종료 시 증류수 재측정 절차로 대응한다.</a:t>
            </a:r>
          </a:p>
          <a:p>
            <a:pPr algn="l" lvl="1">
              <a:spcAft>
                <a:spcPts val="500"/>
              </a:spcAft>
            </a:pPr>
            <a:r>
              <a:rPr sz="13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적외선(940nm) 채널은 구매한 소자가 가시광 차단 패키지여서 이번 범위에서 제외했다.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074920"/>
            <a:ext cx="10881360" cy="1188720"/>
          </a:xfrm>
          <a:prstGeom prst="rect">
            <a:avLst/>
          </a:prstGeom>
          <a:solidFill>
            <a:srgbClr val="FFFBEB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5193792"/>
            <a:ext cx="1047902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>요강이 명시적으로 요구하는 항목이다. 비워두지 말 것.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>계획서 7장: '미완료 부분을 명시하는 것이 누락하는 것보다 유리하다'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F15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메모리 사용량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3774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F15C22"/>
                </a:solidFill>
                <a:latin typeface="맑은 고딕"/>
                <a:ea typeface="맑은 고딕"/>
                <a:cs typeface="맑은 고딕"/>
              </a:rPr>
              <a:t>7. 메모리 〔4-가-6〕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81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4389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Flash / 32KB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SRAM / 2KB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01_blink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툴체인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176 B (0.5%)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 B (0.0%)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02_phase1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단일 채널 측정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1,430 B (4.4%)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89 B (4.3%)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03_phase2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RGB 다파장 스캔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1,360 B (4.2%)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121 B (5.9%)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04_phase4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D4ED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 시스템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D4ED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6,634 B (20.2%)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D4ED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 B (4.4%)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3794760"/>
            <a:ext cx="10881360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EEPROM 사용량: 26 B / 1,024 B (2.5%) — 중심점 3×3 + 임계값 + 무결성 검사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SRAM을 4.4%로 유지한 방법: 화면 문구 전부를 Flash(PROGMEM)에 상주시켰다.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029200"/>
            <a:ext cx="10881360" cy="822960"/>
          </a:xfrm>
          <a:prstGeom prst="rect">
            <a:avLst/>
          </a:prstGeom>
          <a:solidFill>
            <a:srgbClr val="FFFBEB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5148072"/>
            <a:ext cx="1047902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713F12"/>
                </a:solidFill>
                <a:latin typeface="맑은 고딕"/>
                <a:ea typeface="맑은 고딕"/>
                <a:cs typeface="맑은 고딕"/>
              </a:rPr>
              <a:t>★ Microchip Studio 빌드 출력 화면 캡처를 이 자리에 넣을 것 — 요강이 캡처 이미지를 요구한다.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F15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부품 가격표와 경제성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3774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F15C22"/>
                </a:solidFill>
                <a:latin typeface="맑은 고딕"/>
                <a:ea typeface="맑은 고딕"/>
                <a:cs typeface="맑은 고딕"/>
              </a:rPr>
              <a:t>8. 가격 〔4-가-7〕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71600"/>
          <a:ext cx="10881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962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포토다이오드 방식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방식 (PEDD)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광원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RGB LED 3개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RGB LED 3개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검출 소자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포토다이오드 1개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D4ED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LED 1개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증폭 회로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TIA용 OP-AMP 1개 + 정밀 저항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D4ED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AD 변환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MCU 내장 ADC 사용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D4ED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없음 (시간 측정으로 대체)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MCU 사용 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광원 3 + ADC 1 + 기타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D4ED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9핀 (표시·로깅 포함)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85800" y="3977639"/>
            <a:ext cx="10881360" cy="1600200"/>
          </a:xfrm>
          <a:prstGeom prst="rect">
            <a:avLst/>
          </a:prstGeom>
          <a:solidFill>
            <a:srgbClr val="FEF2F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4096511"/>
            <a:ext cx="10479024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★ 실제 구매가로 갱신할 것 (계획서 5.1절 BOM)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· 결제 내역의 실제 단가를 기입 — 추정가보다 실제 금액이 유리하다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· 절감률 = (기존 − 제안) / 기존 × 100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B91C1C"/>
                </a:solidFill>
                <a:latin typeface="맑은 고딕"/>
                <a:ea typeface="맑은 고딕"/>
                <a:cs typeface="맑은 고딕"/>
              </a:rPr>
              <a:t>· 시제품은 Uno 보드로 구현했으나 원가는 IC 단품 구성 기준으로 산출했음을 한 줄 명시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F15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제출 전 최종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3774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F15C22"/>
                </a:solidFill>
                <a:latin typeface="맑은 고딕"/>
                <a:ea typeface="맑은 고딕"/>
                <a:cs typeface="맑은 고딕"/>
              </a:rPr>
              <a:t>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276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□ 보고서 PPT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□ 회로도 PDF — 제출물/나_회로도.pdf (A3 가로 1페이지, 생성 완료)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□ 소스코드 — firmware/ 전체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□ 동작 동영상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1D4ED8"/>
                </a:solidFill>
                <a:latin typeface="맑은 고딕"/>
                <a:ea typeface="맑은 고딕"/>
                <a:cs typeface="맑은 고딕"/>
              </a:rPr>
              <a:t>□ 팀원 4명 전원 구글폼 개별 제출 — 누락 시 실격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□ 메일 발송: polaris@disu.ac.kr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1D4ED8"/>
                </a:solidFill>
                <a:latin typeface="맑은 고딕"/>
                <a:ea typeface="맑은 고딕"/>
                <a:cs typeface="맑은 고딕"/>
              </a:rPr>
              <a:t>마감: 2026-09-18 (금)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